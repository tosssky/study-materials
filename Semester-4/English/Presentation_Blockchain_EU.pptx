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548640" cy="685800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54864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548640" cy="685800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0"/>
            <a:ext cx="54864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103120"/>
            <a:ext cx="12191695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380744" y="557784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700784" y="643539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935069" y="877825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2020824" y="1197864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935069" y="1517903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700784" y="1752189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1380744" y="1837944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1060705" y="1752189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826419" y="1517903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740664" y="1197864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826419" y="877824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1060704" y="643539"/>
            <a:ext cx="164592" cy="16459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468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The Role of Blockchain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FFCC00"/>
                </a:solidFill>
                <a:latin typeface="Calibri"/>
              </a:rPr>
              <a:t>in Shaping the Digital Society of the European Union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Totskiy Vjatseslav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Group 5151003/40001  •  Peter the Great St. Petersburg Polytechnic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CC00"/>
                </a:solidFill>
                <a:latin typeface="Calibri"/>
              </a:rPr>
              <a:t>Spring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02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Five steps to understand blockchain in the EU</a:t>
            </a:r>
          </a:p>
        </p:txBody>
      </p:sp>
      <p:sp>
        <p:nvSpPr>
          <p:cNvPr id="22" name="Oval 21"/>
          <p:cNvSpPr/>
          <p:nvPr/>
        </p:nvSpPr>
        <p:spPr>
          <a:xfrm>
            <a:off x="2286000" y="1920240"/>
            <a:ext cx="594360" cy="594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196596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19842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What is blockchain &amp; why it matters for the EU</a:t>
            </a:r>
          </a:p>
        </p:txBody>
      </p:sp>
      <p:sp>
        <p:nvSpPr>
          <p:cNvPr id="25" name="Oval 24"/>
          <p:cNvSpPr/>
          <p:nvPr/>
        </p:nvSpPr>
        <p:spPr>
          <a:xfrm>
            <a:off x="2286000" y="2697480"/>
            <a:ext cx="594360" cy="594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74320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76148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EU strategy and regulatory framework</a:t>
            </a:r>
          </a:p>
        </p:txBody>
      </p:sp>
      <p:sp>
        <p:nvSpPr>
          <p:cNvPr id="28" name="Oval 27"/>
          <p:cNvSpPr/>
          <p:nvPr/>
        </p:nvSpPr>
        <p:spPr>
          <a:xfrm>
            <a:off x="2286000" y="3474720"/>
            <a:ext cx="594360" cy="594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52044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53872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Practical applications of blockchain in EU services</a:t>
            </a:r>
          </a:p>
        </p:txBody>
      </p:sp>
      <p:sp>
        <p:nvSpPr>
          <p:cNvPr id="31" name="Oval 30"/>
          <p:cNvSpPr/>
          <p:nvPr/>
        </p:nvSpPr>
        <p:spPr>
          <a:xfrm>
            <a:off x="2286000" y="4251960"/>
            <a:ext cx="594360" cy="594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29768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31596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Challenges and limitations</a:t>
            </a:r>
          </a:p>
        </p:txBody>
      </p:sp>
      <p:sp>
        <p:nvSpPr>
          <p:cNvPr id="34" name="Oval 33"/>
          <p:cNvSpPr/>
          <p:nvPr/>
        </p:nvSpPr>
        <p:spPr>
          <a:xfrm>
            <a:off x="2286000" y="5029200"/>
            <a:ext cx="594360" cy="594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5074920"/>
            <a:ext cx="594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09320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Blockchain &amp; the EU Digital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Why a public ledger matters for a public union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920240"/>
            <a:ext cx="4572000" cy="4023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2103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399"/>
                </a:solidFill>
                <a:latin typeface="Calibri"/>
              </a:rPr>
              <a:t>WHAT IS BLOCKCHAIN?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56032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2266"/>
                </a:solidFill>
                <a:latin typeface="Calibri"/>
              </a:rPr>
              <a:t>A decentralized digital ledger</a:t>
            </a:r>
          </a:p>
        </p:txBody>
      </p:sp>
      <p:sp>
        <p:nvSpPr>
          <p:cNvPr id="25" name="Oval 24"/>
          <p:cNvSpPr/>
          <p:nvPr/>
        </p:nvSpPr>
        <p:spPr>
          <a:xfrm>
            <a:off x="2560320" y="3474720"/>
            <a:ext cx="228600" cy="2286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383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749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Public verifiability</a:t>
            </a:r>
          </a:p>
        </p:txBody>
      </p:sp>
      <p:sp>
        <p:nvSpPr>
          <p:cNvPr id="28" name="Oval 27"/>
          <p:cNvSpPr/>
          <p:nvPr/>
        </p:nvSpPr>
        <p:spPr>
          <a:xfrm>
            <a:off x="2560320" y="4251960"/>
            <a:ext cx="228600" cy="2286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4160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26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Cryptographic integrity</a:t>
            </a:r>
          </a:p>
        </p:txBody>
      </p:sp>
      <p:sp>
        <p:nvSpPr>
          <p:cNvPr id="31" name="Oval 30"/>
          <p:cNvSpPr/>
          <p:nvPr/>
        </p:nvSpPr>
        <p:spPr>
          <a:xfrm>
            <a:off x="2560320" y="5029200"/>
            <a:ext cx="228600" cy="2286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4937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Immutability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303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Tamper-proof records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1920240"/>
            <a:ext cx="4297680" cy="40233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0" y="1920240"/>
            <a:ext cx="429768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21945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00"/>
                </a:solidFill>
                <a:latin typeface="Calibri"/>
              </a:rPr>
              <a:t>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9748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Blockchain infrastructure plays a key role in building a secure, transparent, and efficient digital society in the European Union.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493776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0" b="1">
                <a:solidFill>
                  <a:srgbClr val="FFCC00"/>
                </a:solidFill>
                <a:latin typeface="Calibri"/>
              </a:rPr>
              <a:t>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04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EU Blockchain Strategy &amp; Regulation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Four pillars of the EU's institutional approach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92024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1920240"/>
            <a:ext cx="164592" cy="1965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011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EBP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0116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399"/>
                </a:solidFill>
                <a:latin typeface="Calibri"/>
              </a:rPr>
              <a:t>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423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European Blockchain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3464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27 EU states + Norway + Liechtenstein  [1]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92024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920240"/>
            <a:ext cx="164592" cy="1965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011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EBSI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20116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399"/>
                </a:solidFill>
                <a:latin typeface="Calibri"/>
              </a:rPr>
              <a:t>since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423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European Blockchain Services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83464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“peer-to-peer network of interconnected nodes running a blockchain-based services infrastructure”  [1 – para. 1]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06908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069080"/>
            <a:ext cx="164592" cy="1965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41605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MiCA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160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399"/>
                </a:solidFill>
                <a:latin typeface="Calibri"/>
              </a:rPr>
              <a:t>Dec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572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Markets in Crypto-Assets Regulation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98348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“MiCA establishes uniform EU market rules for crypto-assets”  [2 – para. 1]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06908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4069080"/>
            <a:ext cx="164592" cy="1965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41605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EUROPEUM-EDIC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160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399"/>
                </a:solidFill>
                <a:latin typeface="Calibri"/>
              </a:rPr>
              <a:t>May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572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Governance entity for EBSI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98348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Prepares the infrastructure for full-scale production  [3]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05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Application 1: Digital Identity &amp; Diplomas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Self-Sovereign Identity across borders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920240"/>
            <a:ext cx="9601200" cy="1097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0574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Calibri"/>
              </a:rPr>
              <a:t>SSI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42316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Citizens manage their own digital identities — without relying on centralized authorities  [4]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383280"/>
            <a:ext cx="3108960" cy="1828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3383280"/>
            <a:ext cx="310896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611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1.  Issuance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University issues a verifiable diploma on EBSI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413248" y="4160520"/>
            <a:ext cx="146304" cy="274320"/>
          </a:xfrm>
          <a:prstGeom prst="rightArrow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3383280"/>
            <a:ext cx="3108960" cy="1828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3383280"/>
            <a:ext cx="310896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611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2. 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Cross-border check via shared infrastructure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05088" y="4160520"/>
            <a:ext cx="146304" cy="274320"/>
          </a:xfrm>
          <a:prstGeom prst="rightArrow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3383280"/>
            <a:ext cx="3108960" cy="1828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3383280"/>
            <a:ext cx="310896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611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3.  Recognition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Credential accepted across all EU states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5440680"/>
            <a:ext cx="9601200" cy="6400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5532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Result: less bureaucracy, no manual document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06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Application 2: Supply Chain Transparency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Immutable records of product origin and movement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011680"/>
            <a:ext cx="3108960" cy="3108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2011680"/>
            <a:ext cx="3108960" cy="128016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286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CC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474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Food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93192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Track origin and storage of fresh produce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011680"/>
            <a:ext cx="3108960" cy="310896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0" y="2011680"/>
            <a:ext cx="3108960" cy="128016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286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CC00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474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Pharmaceuticals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93192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Verify drug provenance and prevent counterfeits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2011680"/>
            <a:ext cx="3108960" cy="310896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2011680"/>
            <a:ext cx="3108960" cy="1280160"/>
          </a:xfrm>
          <a:prstGeom prst="rect">
            <a:avLst/>
          </a:prstGeom>
          <a:solidFill>
            <a:srgbClr val="00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2860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CC00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474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High-value goods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93192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Authenticate luxury items in cross-border trade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492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2266"/>
                </a:solidFill>
                <a:latin typeface="Calibri"/>
              </a:rPr>
              <a:t>Builds public trust in the European single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07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Challenges &amp; Limitations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What still stands in the way of full adoption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92024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2194560"/>
            <a:ext cx="914400" cy="9144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240280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CC00"/>
                </a:solidFill>
                <a:latin typeface="Calibri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194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Scalability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78892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Limited transaction throughput across networks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92024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89520" y="2194560"/>
            <a:ext cx="914400" cy="9144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240280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CC00"/>
                </a:solidFill>
                <a:latin typeface="Calibr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945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Energy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78892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Mitigated by EBSI's Proof of Authority  [5]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06908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60320" y="4343400"/>
            <a:ext cx="914400" cy="9144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389120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CC00"/>
                </a:solidFill>
                <a:latin typeface="Calibri"/>
              </a:rPr>
              <a:t>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3434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Regulatory fragmentation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93776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MiCA transitional measures applied at varying speeds  [6]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4069080"/>
            <a:ext cx="4754880" cy="19659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89520" y="4343400"/>
            <a:ext cx="914400" cy="9144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4389120"/>
            <a:ext cx="914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CC00"/>
                </a:solidFill>
                <a:latin typeface="Calibri"/>
              </a:rP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3434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2266"/>
                </a:solidFill>
                <a:latin typeface="Calibri"/>
              </a:rPr>
              <a:t>Public adoption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93776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Insufficient understanding of blockchain among citizens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08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Conclusion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371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Three takeaways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011680"/>
            <a:ext cx="3108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2011680"/>
            <a:ext cx="3108960" cy="3291840"/>
          </a:xfrm>
          <a:prstGeom prst="rect">
            <a:avLst/>
          </a:prstGeom>
          <a:noFill/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2011680"/>
            <a:ext cx="3108960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057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Calibri"/>
              </a:rPr>
              <a:t>Takeaway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65176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2266"/>
                </a:solidFill>
                <a:latin typeface="Calibri"/>
              </a:rPr>
              <a:t>Blockchain reshapes EU digital society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11480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Identity, verification, supply chains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011680"/>
            <a:ext cx="3108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7840" y="2011680"/>
            <a:ext cx="3108960" cy="3291840"/>
          </a:xfrm>
          <a:prstGeom prst="rect">
            <a:avLst/>
          </a:prstGeom>
          <a:noFill/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2011680"/>
            <a:ext cx="3108960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2057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Calibri"/>
              </a:rPr>
              <a:t>Takeaway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65176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2266"/>
                </a:solidFill>
                <a:latin typeface="Calibri"/>
              </a:rPr>
              <a:t>EU is fully committed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11480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EBSI, EBP, MiCA, EUROPEUM-EDIC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2011680"/>
            <a:ext cx="3108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2011680"/>
            <a:ext cx="3108960" cy="3291840"/>
          </a:xfrm>
          <a:prstGeom prst="rect">
            <a:avLst/>
          </a:prstGeom>
          <a:noFill/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2011680"/>
            <a:ext cx="3108960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057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Calibri"/>
              </a:rPr>
              <a:t>Takeaway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5176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2266"/>
                </a:solidFill>
                <a:latin typeface="Calibri"/>
              </a:rPr>
              <a:t>Investment + balanced regulation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11480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Essential for a decentralized digital 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577840"/>
            <a:ext cx="9601200" cy="5486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565099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2266"/>
                </a:solidFill>
                <a:latin typeface="Calibri"/>
              </a:rPr>
              <a:t>Blockchain is not a buzzword — it is the backbone of a more open 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54964" y="99212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10642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290505" y="1243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135788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1290505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106424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854964" y="199796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3505" y="1930585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419423" y="1746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352044" y="149504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419423" y="1243584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03504" y="1059503"/>
            <a:ext cx="118872" cy="118872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743200"/>
            <a:ext cx="1645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035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09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2266"/>
                </a:solidFill>
                <a:latin typeface="Calibri"/>
              </a:rPr>
              <a:t>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234440"/>
            <a:ext cx="109728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1920240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19659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1874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European Commission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1945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European Blockchain Services 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633472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6791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25877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ESMA (2025)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90779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Markets in Crypto-Assets Regulation (MiCA)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346704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3392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3009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European Commission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362102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About EUROPEUM-EDIC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059936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0565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01421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EQAR (2025)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33425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European Blockchain Service Infrastructure (EBSI)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773168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8188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727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MITA (2025)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50474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The European Blockchain Services Infrastructure (EBSI)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5486400"/>
            <a:ext cx="640080" cy="4572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55321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C00"/>
                </a:solidFill>
                <a:latin typeface="Calibri"/>
              </a:rPr>
              <a:t>[6]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5440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2266"/>
                </a:solidFill>
                <a:latin typeface="Calibri"/>
              </a:rPr>
              <a:t>Hogan Lovells (2025)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760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The EU's Markets in Crypto-Assets MiCA Regulation — A Status Update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37160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75720" y="0"/>
            <a:ext cx="109728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41480" y="0"/>
            <a:ext cx="109728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70080" y="0"/>
            <a:ext cx="109728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957816" y="4562856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10369296" y="4673112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70520" y="4974337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80776" y="5385816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0670520" y="5797295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369296" y="6098520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957816" y="6208776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9546337" y="6098520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9245112" y="5797295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9134856" y="5385816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9245112" y="4974336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9546336" y="4673112"/>
            <a:ext cx="201168" cy="201168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49039"/>
            <a:ext cx="210312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FFCC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Totskiy Vjatseslav  •  Group 5151003/40001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